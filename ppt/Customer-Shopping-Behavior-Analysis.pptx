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SemiBold"/>
      <p:regular r:id="rId201314"/>
    </p:embeddedFont>
    <p:embeddedFont>
      <p:font typeface="PT Sans"/>
      <p:regular r:id="rId201315"/>
    </p:embeddedFont>
    <p:embeddedFont>
      <p:font typeface="P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109788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58229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guide strategic business decisions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445000"/>
            <a:ext cx="2096539" cy="303113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40" y="4516735"/>
            <a:ext cx="159540" cy="159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7050" y="4504829"/>
            <a:ext cx="222750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SCIENCE PROJECT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6121"/>
            <a:ext cx="10795524" cy="37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at a Glance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98086" y="1159570"/>
            <a:ext cx="3530313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3,900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98086" y="1706463"/>
            <a:ext cx="353031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Purchases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8086" y="1943398"/>
            <a:ext cx="3530313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Transactional records analyzed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30691" y="1159570"/>
            <a:ext cx="3530313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18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330691" y="1706463"/>
            <a:ext cx="353031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Columns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30691" y="1943398"/>
            <a:ext cx="3530313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Features per transaction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63296" y="1159570"/>
            <a:ext cx="3530313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37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7963296" y="1706463"/>
            <a:ext cx="3530313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63296" y="1943398"/>
            <a:ext cx="3530313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Review Rating column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95227"/>
            <a:ext cx="6907933" cy="391457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24106" y="3864173"/>
            <a:ext cx="3575754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24106" y="4133850"/>
            <a:ext cx="357575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Demographics: Age, Gender, Location, Subscription</a:t>
            </a:r>
            <a:endParaRPr lang="en-US" sz="1000" dirty="0"/>
          </a:p>
          <a:p>
            <a:pPr algn="l" marL="203200" indent="-203200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Purchase details: Item, Category, Amount, Season</a:t>
            </a:r>
            <a:endParaRPr lang="en-US" sz="1000" dirty="0"/>
          </a:p>
          <a:p>
            <a:pPr algn="l" marL="203200" indent="-203200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Behavior: Discount, Promo Code, Frequency, Review Rating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2754"/>
            <a:ext cx="6223638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Preparation in Python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98086" y="1293813"/>
            <a:ext cx="330291" cy="2064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98086" y="1555452"/>
            <a:ext cx="6223638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6" name="Text 3"/>
          <p:cNvSpPr/>
          <p:nvPr/>
        </p:nvSpPr>
        <p:spPr>
          <a:xfrm>
            <a:off x="698086" y="1676102"/>
            <a:ext cx="62236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Load &amp; Explore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8086" y="2001044"/>
            <a:ext cx="6223638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Imported via pandas; used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8086" y="2509540"/>
            <a:ext cx="330291" cy="2064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8086" y="2771180"/>
            <a:ext cx="6223638" cy="1905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0" name="Text 7"/>
          <p:cNvSpPr/>
          <p:nvPr/>
        </p:nvSpPr>
        <p:spPr>
          <a:xfrm>
            <a:off x="698086" y="2891830"/>
            <a:ext cx="62236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Clean Missing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8086" y="3216771"/>
            <a:ext cx="62236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Imputed Review Rating with median per category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8086" y="3718917"/>
            <a:ext cx="330291" cy="2064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8086" y="3980557"/>
            <a:ext cx="6223638" cy="1905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4" name="Text 11"/>
          <p:cNvSpPr/>
          <p:nvPr/>
        </p:nvSpPr>
        <p:spPr>
          <a:xfrm>
            <a:off x="698086" y="4101207"/>
            <a:ext cx="62236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8086" y="4426148"/>
            <a:ext cx="6223638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; dropped redundant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8086" y="5182592"/>
            <a:ext cx="330291" cy="2064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8086" y="5444232"/>
            <a:ext cx="6223638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8" name="Text 15"/>
          <p:cNvSpPr/>
          <p:nvPr/>
        </p:nvSpPr>
        <p:spPr>
          <a:xfrm>
            <a:off x="698086" y="5564882"/>
            <a:ext cx="62236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98086" y="5889823"/>
            <a:ext cx="622363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cleaned DataFrame into PostgreSQL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Gender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than female customers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45476" y="3347244"/>
            <a:ext cx="2477529" cy="1580753"/>
          </a:xfrm>
          <a:prstGeom prst="roundRect">
            <a:avLst>
              <a:gd name="adj" fmla="val 1892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0300" y="3572073"/>
            <a:ext cx="2027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70300" y="4064794"/>
            <a:ext cx="20278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$157,890 · 2,652 customers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022430" y="3347244"/>
            <a:ext cx="2477529" cy="1580753"/>
          </a:xfrm>
          <a:prstGeom prst="roundRect">
            <a:avLst>
              <a:gd name="adj" fmla="val 1892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47254" y="3572073"/>
            <a:ext cx="2027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Female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47254" y="4064794"/>
            <a:ext cx="20278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$75,191 · 1,248 customers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889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Subscribers vs. Non-Subscribers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57747"/>
            <a:ext cx="5158254" cy="37129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1705" y="1633637"/>
            <a:ext cx="515825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Insight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1705" y="2115641"/>
            <a:ext cx="5158254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Non-subscribers drive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73%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total revenue despite similar average spend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41705" y="2956322"/>
            <a:ext cx="2482490" cy="1824831"/>
          </a:xfrm>
          <a:prstGeom prst="roundRect">
            <a:avLst>
              <a:gd name="adj" fmla="val 16141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7104" y="3171726"/>
            <a:ext cx="205169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27% Subscribers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57104" y="3653730"/>
            <a:ext cx="2051693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1,053 customers · $59.49 avg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017469" y="2956322"/>
            <a:ext cx="2482490" cy="1824831"/>
          </a:xfrm>
          <a:prstGeom prst="roundRect">
            <a:avLst>
              <a:gd name="adj" fmla="val 16141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2867" y="3171726"/>
            <a:ext cx="2051693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73% Non-Subscribers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32867" y="3942457"/>
            <a:ext cx="2051693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2,847 customers · $59.87 avg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41705" y="4998541"/>
            <a:ext cx="5158254" cy="1069181"/>
          </a:xfrm>
          <a:prstGeom prst="roundRect">
            <a:avLst>
              <a:gd name="adj" fmla="val 27549"/>
            </a:avLst>
          </a:prstGeom>
          <a:solidFill>
            <a:srgbClr val="CFD6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054" y="5291237"/>
            <a:ext cx="245362" cy="1963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9765" y="5221486"/>
            <a:ext cx="4323845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Opportunity: Convert high-spend non-subscribers with exclusive benefits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Segmentation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Segment Breakdown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Loyal: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3,116 customers — largest segment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Returning: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701 customers — growth potential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New: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83 customers — acquisition focus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345476" y="3805932"/>
            <a:ext cx="5154484" cy="1096963"/>
          </a:xfrm>
          <a:prstGeom prst="roundRect">
            <a:avLst>
              <a:gd name="adj" fmla="val 27277"/>
            </a:avLst>
          </a:prstGeom>
          <a:solidFill>
            <a:srgbClr val="CF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4109244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3656" y="4035227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 buyers with 5+ purchases: 958 subscribed vs. 2,518 did not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02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Products &amp; Categories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4545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5 by Review Rating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63080"/>
            <a:ext cx="5154484" cy="37102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5476" y="174545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Category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76" y="2263080"/>
            <a:ext cx="5154484" cy="3710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02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 Behavior &amp; Shipping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4545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Products Most Dependent on Discounts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63080"/>
            <a:ext cx="5154484" cy="37102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5476" y="174545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Shipping Type Comparison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5476" y="2263080"/>
            <a:ext cx="2477529" cy="15548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1897" y="2487910"/>
            <a:ext cx="192628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Standard Shipping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671897" y="3273921"/>
            <a:ext cx="19262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Avg purchase: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$58.46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2430" y="2263080"/>
            <a:ext cx="2477529" cy="15548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48851" y="2487910"/>
            <a:ext cx="19262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Express Shipping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48851" y="2980630"/>
            <a:ext cx="192628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Avg purchase: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$60.48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345476" y="4042271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Express shippers spend slightly more — potential upsell target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539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Age Group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66540"/>
            <a:ext cx="5203893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6066" y="1350665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Insight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96066" y="1711027"/>
            <a:ext cx="520389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Young Adults lead revenue, but all groups are relatively balanced — broad targeting viable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98086" y="5397302"/>
            <a:ext cx="2603931" cy="894159"/>
          </a:xfrm>
          <a:prstGeom prst="roundRect">
            <a:avLst>
              <a:gd name="adj" fmla="val 26666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080" y="5575300"/>
            <a:ext cx="22479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Young Adult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6080" y="5885061"/>
            <a:ext cx="224794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$62,143 · highest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8617" y="5397302"/>
            <a:ext cx="2603931" cy="894159"/>
          </a:xfrm>
          <a:prstGeom prst="roundRect">
            <a:avLst>
              <a:gd name="adj" fmla="val 26666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6611" y="5575300"/>
            <a:ext cx="22479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Middle-aged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06611" y="5885061"/>
            <a:ext cx="224794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$59,197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59147" y="5397302"/>
            <a:ext cx="2603931" cy="894159"/>
          </a:xfrm>
          <a:prstGeom prst="roundRect">
            <a:avLst>
              <a:gd name="adj" fmla="val 26666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37141" y="5575300"/>
            <a:ext cx="22479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Adult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37141" y="5885061"/>
            <a:ext cx="224794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$55,978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89678" y="5397302"/>
            <a:ext cx="2603931" cy="894159"/>
          </a:xfrm>
          <a:prstGeom prst="roundRect">
            <a:avLst>
              <a:gd name="adj" fmla="val 26666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67672" y="5575300"/>
            <a:ext cx="22479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Senior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067672" y="5885061"/>
            <a:ext cx="224794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$55,763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86209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672034"/>
            <a:ext cx="398949" cy="3989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8250" y="1740595"/>
            <a:ext cx="55753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918250" y="2153543"/>
            <a:ext cx="55753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Promote exclusive subscriber benefits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871688"/>
            <a:ext cx="398949" cy="3989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8250" y="2940248"/>
            <a:ext cx="55753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918250" y="3353197"/>
            <a:ext cx="55753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Reward repeat buyers to grow the Loyal segment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071342"/>
            <a:ext cx="398949" cy="3989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8250" y="4139902"/>
            <a:ext cx="55753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918250" y="4552851"/>
            <a:ext cx="55753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Balance sales lift with margin control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9971" y="5270996"/>
            <a:ext cx="398949" cy="3989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18250" y="5339556"/>
            <a:ext cx="55753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918250" y="5752505"/>
            <a:ext cx="557535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high-revenue age groups &amp; express shippers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2026-09-14T09:42:07Z</dcterms:created>
  <dcterms:modified xsi:type="dcterms:W3CDTF">2026-09-14T09:42:07Z</dcterms:modified>
</cp:coreProperties>
</file>